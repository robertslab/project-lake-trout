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Insertions</c:v>
                </c:pt>
              </c:strCache>
            </c:strRef>
          </c:tx>
          <c:spPr>
            <a:solidFill>
              <a:srgbClr val="E9964E"/>
            </a:solidFill>
          </c:spPr>
          <c:cat>
            <c:strRef>
              <c:f>Sheet1!$A$2:$A$4</c:f>
              <c:strCache>
                <c:ptCount val="3"/>
                <c:pt idx="0">
                  <c:v>Lean-specific</c:v>
                </c:pt>
                <c:pt idx="1">
                  <c:v>Siscowet-specific</c:v>
                </c:pt>
                <c:pt idx="2">
                  <c:v>Shared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770891</c:v>
                </c:pt>
                <c:pt idx="1">
                  <c:v>1086799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Deletions</c:v>
                </c:pt>
              </c:strCache>
            </c:strRef>
          </c:tx>
          <c:spPr>
            <a:solidFill>
              <a:srgbClr val="065A82"/>
            </a:solidFill>
          </c:spPr>
          <c:cat>
            <c:strRef>
              <c:f>Sheet1!$A$2:$A$4</c:f>
              <c:strCache>
                <c:ptCount val="3"/>
                <c:pt idx="0">
                  <c:v>Lean-specific</c:v>
                </c:pt>
                <c:pt idx="1">
                  <c:v>Siscowet-specific</c:v>
                </c:pt>
                <c:pt idx="2">
                  <c:v>Shared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225337</c:v>
                </c:pt>
                <c:pt idx="1">
                  <c:v>245906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Shared variants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Sheet1!$A$2:$A$4</c:f>
              <c:strCache>
                <c:ptCount val="3"/>
                <c:pt idx="0">
                  <c:v>Lean-specific</c:v>
                </c:pt>
                <c:pt idx="1">
                  <c:v>Siscowet-specific</c:v>
                </c:pt>
                <c:pt idx="2">
                  <c:v>Shared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878372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DMRs in siscowet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Sheet1!$A$2:$A$3</c:f>
              <c:strCache>
                <c:ptCount val="2"/>
                <c:pt idx="0">
                  <c:v>Hypermethylated</c:v>
                </c:pt>
                <c:pt idx="1">
                  <c:v>Hypomethylated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282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CADCFC"/>
                </a:solidFill>
                <a:latin typeface="Calibri"/>
              </a:rPr>
              <a:t>SALVELINUS NAMAYCUSH  ·  ROBERTS LAB, UW SAFS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 i="0">
                <a:solidFill>
                  <a:srgbClr val="FFFFFF"/>
                </a:solidFill>
                <a:latin typeface="Georgia"/>
              </a:rPr>
              <a:t>Two Ecotypes,</a:t>
            </a:r>
          </a:p>
          <a:p>
            <a:pPr algn="l">
              <a:spcAft>
                <a:spcPts val="200"/>
              </a:spcAft>
            </a:pPr>
            <a:r>
              <a:rPr sz="5200" b="1" i="0">
                <a:solidFill>
                  <a:srgbClr val="CADCFC"/>
                </a:solidFill>
                <a:latin typeface="Georgia"/>
              </a:rPr>
              <a:t>One Genome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576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CADCFC"/>
                </a:solidFill>
                <a:latin typeface="Calibri"/>
              </a:rPr>
              <a:t>How presence-absence variation and DNA methylation may drive </a:t>
            </a:r>
            <a:r>
              <a:rPr sz="2100" b="1" i="0">
                <a:solidFill>
                  <a:srgbClr val="FFFFFF"/>
                </a:solidFill>
                <a:latin typeface="Calibri"/>
              </a:rPr>
              <a:t>lean vs. siscowet</a:t>
            </a:r>
            <a:r>
              <a:rPr sz="2100" b="0" i="0">
                <a:solidFill>
                  <a:srgbClr val="CADCFC"/>
                </a:solidFill>
                <a:latin typeface="Calibri"/>
              </a:rPr>
              <a:t> divergence in lake trout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355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15-minute research talk  ·  PacBio HiFi comparative genomics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E9964E"/>
                </a:solidFill>
                <a:latin typeface="Calibri"/>
              </a:rPr>
              <a:t>THE BIOLOGICAL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2B35"/>
                </a:solidFill>
                <a:latin typeface="Georgia"/>
              </a:rPr>
              <a:t>What makes a lean a lean and a siscowet a siscowet?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4937760" cy="356616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4937760" cy="77724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4937760" cy="4114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121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803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C7293"/>
                </a:solidFill>
                <a:latin typeface="Calibri"/>
              </a:rPr>
              <a:t>Shallow · nearshore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4297680" cy="20116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C7293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A2B35"/>
                </a:solidFill>
                <a:latin typeface="Calibri"/>
              </a:rPr>
              <a:t>Streamlined, low lipid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C7293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A2B35"/>
                </a:solidFill>
                <a:latin typeface="Calibri"/>
              </a:rPr>
              <a:t>Forages shallow water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C7293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A2B35"/>
                </a:solidFill>
                <a:latin typeface="Calibri"/>
              </a:rPr>
              <a:t>Reference-like body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965960"/>
            <a:ext cx="4937760" cy="356616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46520" y="1965960"/>
            <a:ext cx="4937760" cy="777240"/>
          </a:xfrm>
          <a:prstGeom prst="round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2331720"/>
            <a:ext cx="4937760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121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Siscowet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8803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065A82"/>
                </a:solidFill>
                <a:latin typeface="Calibri"/>
              </a:rPr>
              <a:t>Deep · offshore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383280"/>
            <a:ext cx="4297680" cy="20116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065A82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A2B35"/>
                </a:solidFill>
                <a:latin typeface="Calibri"/>
              </a:rPr>
              <a:t>High lipid / fat stores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65A82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A2B35"/>
                </a:solidFill>
                <a:latin typeface="Calibri"/>
              </a:rPr>
              <a:t>Adapted to depth &amp; pressure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065A82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A2B35"/>
                </a:solidFill>
                <a:latin typeface="Calibri"/>
              </a:rPr>
              <a:t>Distinct morphology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A2B35"/>
                </a:solidFill>
                <a:latin typeface="Calibri"/>
              </a:rPr>
              <a:t>Same species, same reference genome — so where is the difference written? </a:t>
            </a:r>
            <a:r>
              <a:rPr sz="1700" b="1" i="0">
                <a:solidFill>
                  <a:srgbClr val="E9964E"/>
                </a:solidFill>
                <a:latin typeface="Calibri"/>
              </a:rPr>
              <a:t>We look at two layers.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CADCFC"/>
                </a:solidFill>
                <a:latin typeface="Calibri"/>
              </a:rPr>
              <a:t>THE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Georgia"/>
              </a:rPr>
              <a:t>Two layers of genomic difference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5029200" cy="3566160"/>
          </a:xfrm>
          <a:prstGeom prst="roundRect">
            <a:avLst/>
          </a:prstGeom>
          <a:solidFill>
            <a:srgbClr val="065A82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317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 spc="150">
                <a:solidFill>
                  <a:srgbClr val="E9964E"/>
                </a:solidFill>
                <a:latin typeface="Calibri"/>
              </a:rPr>
              <a:t>LAYER 1 · PAV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</a:rPr>
              <a:t>The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3891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Presence-absence variation — segments of DNA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gained or lost</a:t>
            </a:r>
            <a:r>
              <a:rPr sz="1600" b="0" i="0">
                <a:solidFill>
                  <a:srgbClr val="CADCFC"/>
                </a:solidFill>
                <a:latin typeface="Calibri"/>
              </a:rPr>
              <a:t> between ecotypes.</a:t>
            </a:r>
          </a:p>
          <a:p>
            <a:pPr algn="l"/>
            <a:r>
              <a:rPr sz="1600" b="0" i="0">
                <a:solidFill>
                  <a:srgbClr val="1A2B35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Changes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what genes are present.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029200" cy="3566160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 spc="150">
                <a:solidFill>
                  <a:srgbClr val="9BE8DC"/>
                </a:solidFill>
                <a:latin typeface="Calibri"/>
              </a:rPr>
              <a:t>LAYER 2 · 5mC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74320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</a:rPr>
              <a:t>The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429000"/>
            <a:ext cx="43891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DNA methylation — reversible marks that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switch genes up or down</a:t>
            </a:r>
            <a:r>
              <a:rPr sz="1600" b="0" i="0">
                <a:solidFill>
                  <a:srgbClr val="CADCFC"/>
                </a:solidFill>
                <a:latin typeface="Calibri"/>
              </a:rPr>
              <a:t>.</a:t>
            </a:r>
          </a:p>
          <a:p>
            <a:pPr algn="l"/>
            <a:r>
              <a:rPr sz="1600" b="0" i="0">
                <a:solidFill>
                  <a:srgbClr val="1A2B35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Changes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how genes are used.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1">
                <a:solidFill>
                  <a:srgbClr val="CADCFC"/>
                </a:solidFill>
                <a:latin typeface="Calibri"/>
              </a:rPr>
              <a:t>Same PacBio HiFi reads resolve both layers at once.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E9964E"/>
                </a:solidFill>
                <a:latin typeface="Calibri"/>
              </a:rPr>
              <a:t>STUDY DESIGN &amp;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2B35"/>
                </a:solidFill>
                <a:latin typeface="Georgia"/>
              </a:rPr>
              <a:t>Eight fish, one platform, two readouts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2514600" cy="155448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109728" cy="1554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21284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65A82"/>
                </a:solidFill>
                <a:latin typeface="Georgia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3035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707B"/>
                </a:solidFill>
                <a:latin typeface="Calibri"/>
              </a:rPr>
              <a:t>PacBio HiFi individuals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2011680"/>
            <a:ext cx="2514600" cy="155448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11880" y="2011680"/>
            <a:ext cx="109728" cy="15544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4488" y="221284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C7293"/>
                </a:solidFill>
                <a:latin typeface="Georgia"/>
              </a:rPr>
              <a:t>4 + 4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2776" y="3035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707B"/>
                </a:solidFill>
                <a:latin typeface="Calibri"/>
              </a:rPr>
              <a:t>lean + siscowet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011680"/>
            <a:ext cx="2514600" cy="155448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011680"/>
            <a:ext cx="109728" cy="15544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221284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2A9D8F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1696" y="3035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707B"/>
                </a:solidFill>
                <a:latin typeface="Calibri"/>
              </a:rPr>
              <a:t>reference: SaNama_1.0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2011680"/>
            <a:ext cx="2514600" cy="155448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89720" y="2011680"/>
            <a:ext cx="109728" cy="1554480"/>
          </a:xfrm>
          <a:prstGeom prst="rect">
            <a:avLst/>
          </a:prstGeom>
          <a:solidFill>
            <a:srgbClr val="E99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21284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9964E"/>
                </a:solidFill>
                <a:latin typeface="Georg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0616" y="3035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707B"/>
                </a:solidFill>
                <a:latin typeface="Calibri"/>
              </a:rPr>
              <a:t>layers from one dataset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886200"/>
            <a:ext cx="10515600" cy="160020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1148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B35"/>
                </a:solidFill>
                <a:latin typeface="Georgia"/>
              </a:rPr>
              <a:t>Why HiFi matters 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572000"/>
            <a:ext cx="10058400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A2B35"/>
                </a:solidFill>
                <a:latin typeface="Calibri"/>
              </a:rPr>
              <a:t>Long, accurate reads call </a:t>
            </a:r>
            <a:r>
              <a:rPr sz="1500" b="1" i="0">
                <a:solidFill>
                  <a:srgbClr val="1A2B35"/>
                </a:solidFill>
                <a:latin typeface="Calibri"/>
              </a:rPr>
              <a:t>structural variants (PAV)</a:t>
            </a:r>
            <a:r>
              <a:rPr sz="1500" b="0" i="0">
                <a:solidFill>
                  <a:srgbClr val="1A2B35"/>
                </a:solidFill>
                <a:latin typeface="Calibri"/>
              </a:rPr>
              <a:t> and </a:t>
            </a:r>
            <a:r>
              <a:rPr sz="1500" b="1" i="0">
                <a:solidFill>
                  <a:srgbClr val="1A2B35"/>
                </a:solidFill>
                <a:latin typeface="Calibri"/>
              </a:rPr>
              <a:t>5mC methylation</a:t>
            </a:r>
            <a:r>
              <a:rPr sz="1500" b="0" i="0">
                <a:solidFill>
                  <a:srgbClr val="1A2B35"/>
                </a:solidFill>
                <a:latin typeface="Calibri"/>
              </a:rPr>
              <a:t> from the very same molecules — no separate assays, no batch confound.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5B707B"/>
                </a:solidFill>
                <a:latin typeface="Calibri"/>
              </a:rPr>
              <a:t>Samples — Lean: bc2041/2068/2069/2070   ·   Siscowet: bc2071/2072/2073/2096   ·   Supporting layer: liver RNA-seq (202 DETs)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E9964E"/>
                </a:solidFill>
                <a:latin typeface="Calibri"/>
              </a:rPr>
              <a:t>LAYER 1 · PRESENCE-ABSENCE VARIATION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6858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B35"/>
                </a:solidFill>
                <a:latin typeface="Georgia"/>
              </a:rPr>
              <a:t>Whole segments of DNA present in one ecotype, absent in the other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6583680" cy="2743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A2B35"/>
                </a:solidFill>
                <a:latin typeface="Calibri"/>
              </a:rPr>
              <a:t>Detected two ways from HiFi alignments: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065A82"/>
                </a:solidFill>
                <a:latin typeface="Calibri"/>
              </a:rPr>
              <a:t>Deletions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 — coverage drops to zero over a region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E9964E"/>
                </a:solidFill>
                <a:latin typeface="Calibri"/>
              </a:rPr>
              <a:t>Insertions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 — novel sequence flagged in read CIGAR strings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Classified as lean-specific, siscowet-specific, or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2194560"/>
            <a:ext cx="3383280" cy="329184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23317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Lean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75319" y="2743200"/>
            <a:ext cx="621792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88551" y="2743200"/>
            <a:ext cx="621792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01784" y="2743200"/>
            <a:ext cx="621792" cy="411480"/>
          </a:xfrm>
          <a:prstGeom prst="rect">
            <a:avLst/>
          </a:prstGeom>
          <a:solidFill>
            <a:srgbClr val="E99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15015" y="2743200"/>
            <a:ext cx="621792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Siscowet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19" y="4069080"/>
            <a:ext cx="621792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88551" y="4069080"/>
            <a:ext cx="621792" cy="411480"/>
          </a:xfrm>
          <a:prstGeom prst="rect">
            <a:avLst/>
          </a:prstGeom>
          <a:solidFill>
            <a:srgbClr val="D7D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01784" y="4069080"/>
            <a:ext cx="621792" cy="411480"/>
          </a:xfrm>
          <a:prstGeom prst="rect">
            <a:avLst/>
          </a:prstGeom>
          <a:solidFill>
            <a:srgbClr val="E99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15015" y="4069080"/>
            <a:ext cx="621792" cy="4114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1" y="45262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707B"/>
                </a:solidFill>
                <a:latin typeface="Calibri"/>
              </a:rPr>
              <a:t>deletion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50292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5B707B"/>
                </a:solidFill>
                <a:latin typeface="Calibri"/>
              </a:rPr>
              <a:t>same locus → different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E9964E"/>
                </a:solidFill>
                <a:latin typeface="Calibri"/>
              </a:rPr>
              <a:t>LAYER 1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A2B35"/>
                </a:solidFill>
                <a:latin typeface="Georgia"/>
              </a:rPr>
              <a:t>Siscowet carries more ecotype-specific structure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874519"/>
          <a:ext cx="67665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955279" y="196596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9964E"/>
                </a:solidFill>
                <a:latin typeface="Georgia"/>
              </a:rPr>
              <a:t>996,228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73568" y="253288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707B"/>
                </a:solidFill>
                <a:latin typeface="Calibri"/>
              </a:rPr>
              <a:t>lean-specific variants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315468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065A82"/>
                </a:solidFill>
                <a:latin typeface="Georgia"/>
              </a:rPr>
              <a:t>1,332,705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73568" y="372160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707B"/>
                </a:solidFill>
                <a:latin typeface="Calibri"/>
              </a:rPr>
              <a:t>siscowet-specific variants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34340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C7293"/>
                </a:solidFill>
                <a:latin typeface="Georgia"/>
              </a:rPr>
              <a:t>878,372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3568" y="49103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707B"/>
                </a:solidFill>
                <a:latin typeface="Calibri"/>
              </a:rPr>
              <a:t>shared between ecotypes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534924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1">
                <a:solidFill>
                  <a:srgbClr val="1A2B35"/>
                </a:solidFill>
                <a:latin typeface="Calibri"/>
              </a:rPr>
              <a:t>≈ 34% more ecotype-specific variation in siscowet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E9964E"/>
                </a:solidFill>
                <a:latin typeface="Calibri"/>
              </a:rPr>
              <a:t>LAYER 1 · FROM VARIANTS TO PHENOTYPE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2B35"/>
                </a:solidFill>
                <a:latin typeface="Georgia"/>
              </a:rPr>
              <a:t>How presence-absence becomes ecotype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3337560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3000" y="233172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395728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1546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B35"/>
                </a:solidFill>
                <a:latin typeface="Georgia"/>
              </a:rPr>
              <a:t>Add / remove genes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A2B35"/>
                </a:solidFill>
                <a:latin typeface="Calibri"/>
              </a:rPr>
              <a:t>A PAV overlapping a coding region adds or deletes a gene outright — a present-vs-absent function.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011680"/>
            <a:ext cx="3337560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54879" y="23317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95728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1546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B35"/>
                </a:solidFill>
                <a:latin typeface="Georgia"/>
              </a:rPr>
              <a:t>Shift gene dosage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A2B35"/>
                </a:solidFill>
                <a:latin typeface="Calibri"/>
              </a:rPr>
              <a:t>Copy-number change tunes expression up or down without touching the coding sequence.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011680"/>
            <a:ext cx="3337560" cy="3108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66760" y="2331720"/>
            <a:ext cx="640080" cy="640080"/>
          </a:xfrm>
          <a:prstGeom prst="ellipse">
            <a:avLst/>
          </a:prstGeom>
          <a:solidFill>
            <a:srgbClr val="E99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395728"/>
            <a:ext cx="640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~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1546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B35"/>
                </a:solidFill>
                <a:latin typeface="Georgia"/>
              </a:rPr>
              <a:t>Rewire regulation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A2B35"/>
                </a:solidFill>
                <a:latin typeface="Calibri"/>
              </a:rPr>
              <a:t>Indels in promoters / enhancers reposition regulatory elements, altering control.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A2B35"/>
                </a:solidFill>
                <a:latin typeface="Calibri"/>
              </a:rPr>
              <a:t>Candidate targets for ecotype divergence: </a:t>
            </a:r>
            <a:r>
              <a:rPr sz="1600" b="1" i="0">
                <a:solidFill>
                  <a:srgbClr val="065A82"/>
                </a:solidFill>
                <a:latin typeface="Calibri"/>
              </a:rPr>
              <a:t>lipid metabolism, depth &amp; pressure tolerance, sensory adaptation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 — flag PAV-hit genes here and test against expression.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2A9D8F"/>
                </a:solidFill>
                <a:latin typeface="Calibri"/>
              </a:rPr>
              <a:t>LAYER 2 · DNA METHYLATION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A2B35"/>
                </a:solidFill>
                <a:latin typeface="Georgia"/>
              </a:rPr>
              <a:t>Same sequence, different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6675120" cy="29260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2A9D8F"/>
                </a:solidFill>
                <a:latin typeface="Calibri"/>
              </a:rPr>
              <a:t>5-methylcytosine (5mC) at CpG sites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 — read directly off HiFi data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Methylation typically </a:t>
            </a:r>
            <a:r>
              <a:rPr sz="1600" b="1" i="0">
                <a:solidFill>
                  <a:srgbClr val="1A2B35"/>
                </a:solidFill>
                <a:latin typeface="Calibri"/>
              </a:rPr>
              <a:t>silences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 genes and represses transposable elements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A2B35"/>
                </a:solidFill>
                <a:latin typeface="Calibri"/>
              </a:rPr>
              <a:t>Reversible &amp; potentially heritable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 — a route to plastic phenotype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We test each CpG for ecotype differences, then group into regions (DMRs)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286000"/>
            <a:ext cx="3291840" cy="301752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0" y="4023360"/>
            <a:ext cx="2560320" cy="457200"/>
          </a:xfrm>
          <a:prstGeom prst="rect">
            <a:avLst/>
          </a:prstGeom>
          <a:solidFill>
            <a:srgbClr val="C9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49640" y="4069080"/>
            <a:ext cx="146304" cy="365760"/>
          </a:xfrm>
          <a:prstGeom prst="rect">
            <a:avLst/>
          </a:prstGeom>
          <a:solidFill>
            <a:srgbClr val="6B7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52560" y="4069080"/>
            <a:ext cx="146304" cy="365760"/>
          </a:xfrm>
          <a:prstGeom prst="rect">
            <a:avLst/>
          </a:prstGeom>
          <a:solidFill>
            <a:srgbClr val="6B7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42832" y="361188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2832" y="3657600"/>
            <a:ext cx="365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4069080"/>
            <a:ext cx="146304" cy="365760"/>
          </a:xfrm>
          <a:prstGeom prst="rect">
            <a:avLst/>
          </a:prstGeom>
          <a:solidFill>
            <a:srgbClr val="6B7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4069080"/>
            <a:ext cx="146304" cy="365760"/>
          </a:xfrm>
          <a:prstGeom prst="rect">
            <a:avLst/>
          </a:prstGeom>
          <a:solidFill>
            <a:srgbClr val="6B7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48672" y="361188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48672" y="3657600"/>
            <a:ext cx="365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61320" y="4069080"/>
            <a:ext cx="146304" cy="365760"/>
          </a:xfrm>
          <a:prstGeom prst="rect">
            <a:avLst/>
          </a:prstGeom>
          <a:solidFill>
            <a:srgbClr val="6B7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470916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5B707B"/>
                </a:solidFill>
                <a:latin typeface="Calibri"/>
              </a:rPr>
              <a:t>methyl marks tune the same DNA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2A9D8F"/>
                </a:solidFill>
                <a:latin typeface="Calibri"/>
              </a:rPr>
              <a:t>LAYER 2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A2B35"/>
                </a:solidFill>
                <a:latin typeface="Georgia"/>
              </a:rPr>
              <a:t>From half a million sites to 302 regions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3108960" cy="141732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057400"/>
            <a:ext cx="3108960" cy="128016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Georgia"/>
              </a:rPr>
              <a:t>540,040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35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B707B"/>
                </a:solidFill>
                <a:latin typeface="Calibri"/>
              </a:rPr>
              <a:t>CpG sites tested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5B707B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057400"/>
            <a:ext cx="3108960" cy="141732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2057400"/>
            <a:ext cx="3108960" cy="12801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Georgia"/>
              </a:rPr>
              <a:t>4,440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35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B707B"/>
                </a:solidFill>
                <a:latin typeface="Calibri"/>
              </a:rPr>
              <a:t>significant DMCs (p &lt; 0.05)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0604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5B707B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57400"/>
            <a:ext cx="3108960" cy="1417320"/>
          </a:xfrm>
          <a:prstGeom prst="roundRect">
            <a:avLst/>
          </a:prstGeom>
          <a:solidFill>
            <a:srgbClr val="F4F7F9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2057400"/>
            <a:ext cx="3108960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2860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2A9D8F"/>
                </a:solidFill>
                <a:latin typeface="Georgia"/>
              </a:rPr>
              <a:t>302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035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B707B"/>
                </a:solidFill>
                <a:latin typeface="Calibri"/>
              </a:rPr>
              <a:t>differentially methylated regions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2960" y="3794760"/>
          <a:ext cx="5760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0" y="4023360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B35"/>
                </a:solidFill>
                <a:latin typeface="Georgia"/>
              </a:rPr>
              <a:t>The asymmetry is the story.</a:t>
            </a:r>
          </a:p>
          <a:p>
            <a:pPr algn="l"/>
            <a:r>
              <a:rPr sz="600" b="0" i="0">
                <a:solidFill>
                  <a:srgbClr val="1A2B35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1A2B35"/>
                </a:solidFill>
                <a:latin typeface="Calibri"/>
              </a:rPr>
              <a:t>282 of 302 DMRs are </a:t>
            </a:r>
            <a:r>
              <a:rPr sz="1600" b="1" i="0">
                <a:solidFill>
                  <a:srgbClr val="2A9D8F"/>
                </a:solidFill>
                <a:latin typeface="Calibri"/>
              </a:rPr>
              <a:t>hypomethylated</a:t>
            </a:r>
            <a:r>
              <a:rPr sz="1600" b="0" i="0">
                <a:solidFill>
                  <a:srgbClr val="1A2B35"/>
                </a:solidFill>
                <a:latin typeface="Calibri"/>
              </a:rPr>
              <a:t> in siscowet — a genome-wide tilt toward de-repression.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CADCFC"/>
                </a:solidFill>
                <a:latin typeface="Calibri"/>
              </a:rPr>
              <a:t>LAYER 2 · INTERPRETING THE TILT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Why a hypomethylated siscowet genome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3337560" cy="3200400"/>
          </a:xfrm>
          <a:prstGeom prst="round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Georgia"/>
              </a:rPr>
              <a:t>Genes switch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2461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Lower methylation near promoters can de-repress genes — potentially the lipid &amp; depth programs that define siscowet.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57400"/>
            <a:ext cx="3337560" cy="3200400"/>
          </a:xfrm>
          <a:prstGeom prst="round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79" y="23317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Georgia"/>
              </a:rPr>
              <a:t>Mobile elements wake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32461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Genome-wide hypomethylation can re-activate transposable elements, a documented engine of rapid divergence.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57400"/>
            <a:ext cx="3337560" cy="3200400"/>
          </a:xfrm>
          <a:prstGeom prst="round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23317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Georgia"/>
              </a:rPr>
              <a:t>A heritable dial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246120"/>
            <a:ext cx="2743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Methylation state can persist across generations — divergence without waiting for new mutations.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CADCFC"/>
                </a:solidFill>
                <a:latin typeface="Calibri"/>
              </a:rPr>
              <a:t>Two independent signals, same direction: siscowet shows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more structural variation and broad hypomethylation.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E9964E"/>
                </a:solidFill>
                <a:latin typeface="Calibri"/>
              </a:rPr>
              <a:t>INTEGRATION · THE KEY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1A2B35"/>
                </a:solidFill>
                <a:latin typeface="Georgia"/>
              </a:rPr>
              <a:t>Do the layers converge on the same genes?</a:t>
            </a:r>
          </a:p>
        </p:txBody>
      </p:sp>
      <p:sp>
        <p:nvSpPr>
          <p:cNvPr id="4" name="Oval 3"/>
          <p:cNvSpPr/>
          <p:nvPr/>
        </p:nvSpPr>
        <p:spPr>
          <a:xfrm>
            <a:off x="2788920" y="3108959"/>
            <a:ext cx="2651760" cy="2651760"/>
          </a:xfrm>
          <a:prstGeom prst="ellipse">
            <a:avLst/>
          </a:prstGeom>
          <a:solidFill>
            <a:srgbClr val="E9964E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0" y="3108959"/>
            <a:ext cx="2651760" cy="2651760"/>
          </a:xfrm>
          <a:prstGeom prst="ellipse">
            <a:avLst/>
          </a:prstGeom>
          <a:solidFill>
            <a:srgbClr val="2A9D8F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1859" y="1965960"/>
            <a:ext cx="2651760" cy="2651760"/>
          </a:xfrm>
          <a:prstGeom prst="ellipse">
            <a:avLst/>
          </a:prstGeom>
          <a:solidFill>
            <a:srgbClr val="065A82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71900" y="22402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Structure (PAV)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484632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Methylation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484632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Expression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3339" y="411480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B35"/>
                </a:solidFill>
                <a:latin typeface="Calibri"/>
              </a:rPr>
              <a:t>causal</a:t>
            </a:r>
          </a:p>
          <a:p>
            <a:pPr algn="ctr"/>
            <a:r>
              <a:rPr sz="1200" b="1" i="0">
                <a:solidFill>
                  <a:srgbClr val="1A2B35"/>
                </a:solidFill>
                <a:latin typeface="Calibri"/>
              </a:rPr>
              <a:t>candidates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4023360" cy="36576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065A82"/>
                </a:solidFill>
                <a:latin typeface="Calibri"/>
              </a:rPr>
              <a:t>—  </a:t>
            </a:r>
            <a:r>
              <a:rPr sz="1550" b="0" i="0">
                <a:solidFill>
                  <a:srgbClr val="1A2B35"/>
                </a:solidFill>
                <a:latin typeface="Calibri"/>
              </a:rPr>
              <a:t>Are DMRs enriched near PAV breakpoints?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065A82"/>
                </a:solidFill>
                <a:latin typeface="Calibri"/>
              </a:rPr>
              <a:t>—  </a:t>
            </a:r>
            <a:r>
              <a:rPr sz="1550" b="0" i="0">
                <a:solidFill>
                  <a:srgbClr val="1A2B35"/>
                </a:solidFill>
                <a:latin typeface="Calibri"/>
              </a:rPr>
              <a:t>Do PAV-hit genes overlap the 202 liver DETs?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065A82"/>
                </a:solidFill>
                <a:latin typeface="Calibri"/>
              </a:rPr>
              <a:t>—  </a:t>
            </a:r>
            <a:r>
              <a:rPr sz="1550" b="1" i="0">
                <a:solidFill>
                  <a:srgbClr val="065A82"/>
                </a:solidFill>
                <a:latin typeface="Calibri"/>
              </a:rPr>
              <a:t>Three-way agreement</a:t>
            </a:r>
            <a:r>
              <a:rPr sz="1550" b="0" i="0">
                <a:solidFill>
                  <a:srgbClr val="1A2B35"/>
                </a:solidFill>
                <a:latin typeface="Calibri"/>
              </a:rPr>
              <a:t> turns correlation into mechanism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065A82"/>
                </a:solidFill>
                <a:latin typeface="Calibri"/>
              </a:rPr>
              <a:t>—  </a:t>
            </a:r>
            <a:r>
              <a:rPr sz="1550" b="1" i="0">
                <a:solidFill>
                  <a:srgbClr val="1A2B35"/>
                </a:solidFill>
                <a:latin typeface="Calibri"/>
              </a:rPr>
              <a:t>Next: </a:t>
            </a:r>
            <a:r>
              <a:rPr sz="1550" b="0" i="0">
                <a:solidFill>
                  <a:srgbClr val="1A2B35"/>
                </a:solidFill>
                <a:latin typeface="Calibri"/>
              </a:rPr>
              <a:t>ecotype-specific hifiasm assemblies remove reference bias on PAV calls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50">
                <a:solidFill>
                  <a:srgbClr val="E9964E"/>
                </a:solidFill>
                <a:latin typeface="Calibri"/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2B35"/>
                </a:solidFill>
                <a:latin typeface="Georgia"/>
              </a:rPr>
              <a:t>Three things to remember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28016" cy="13258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2258568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31720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167128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B35"/>
                </a:solidFill>
                <a:latin typeface="Georgia"/>
              </a:rPr>
              <a:t>Ecotype divergence is written at two levels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679191"/>
            <a:ext cx="8778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B707B"/>
                </a:solidFill>
                <a:latin typeface="Calibri"/>
              </a:rPr>
              <a:t>Structural (what genes exist) and epigenetic (how they're used) — not either/or.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56432"/>
            <a:ext cx="1051560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456432"/>
            <a:ext cx="128016" cy="1325880"/>
          </a:xfrm>
          <a:prstGeom prst="rect">
            <a:avLst/>
          </a:prstGeom>
          <a:solidFill>
            <a:srgbClr val="E99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3749039"/>
            <a:ext cx="731520" cy="731520"/>
          </a:xfrm>
          <a:prstGeom prst="ellipse">
            <a:avLst/>
          </a:prstGeom>
          <a:solidFill>
            <a:srgbClr val="E99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822191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65760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B35"/>
                </a:solidFill>
                <a:latin typeface="Georgia"/>
              </a:rPr>
              <a:t>Both signals point the same 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4169663"/>
            <a:ext cx="8778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B707B"/>
                </a:solidFill>
                <a:latin typeface="Calibri"/>
              </a:rPr>
              <a:t>Siscowet shows ~34% more ecotype-specific PAV and 282/302 DMRs hypomethylated.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946904"/>
            <a:ext cx="1051560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  <a:effectLst>
            <a:outerShdw blurRad="60000" dist="25000" dir="5400000" rotWithShape="0">
              <a:srgbClr val="0A223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46904"/>
            <a:ext cx="128016" cy="13258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43000" y="5239512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31266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148072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B35"/>
                </a:solidFill>
                <a:latin typeface="Georgia"/>
              </a:rPr>
              <a:t>Integration is the next experiment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660136"/>
            <a:ext cx="8778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B707B"/>
                </a:solidFill>
                <a:latin typeface="Calibri"/>
              </a:rPr>
              <a:t>Overlap PAV, methylation, and expression to find true causal candidates.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70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937760"/>
            <a:ext cx="12191695" cy="1920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Two layers, one divergence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CADCFC"/>
                </a:solidFill>
                <a:latin typeface="Calibri"/>
              </a:rPr>
              <a:t>Presence-absence variation and DNA methylation each track the lean–siscowet split — 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and where they converge, we find the genes that make an ecotype.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Explore the data — interactive genome browser: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sr320.github.io/project-lake-trout/genome-browser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5105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Roberts Lab · University of Washington · School of Aquatic &amp; Fishery Sciences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