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Insertions</c:v>
                </c:pt>
              </c:strCache>
            </c:strRef>
          </c:tx>
          <c:spPr>
            <a:solidFill>
              <a:srgbClr val="E9964E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Lean-specific</c:v>
                </c:pt>
                <c:pt idx="1">
                  <c:v>Siscowet-specific</c:v>
                </c:pt>
                <c:pt idx="2">
                  <c:v>Shared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770891</c:v>
                </c:pt>
                <c:pt idx="1">
                  <c:v>1086799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D5A-3946-86C1-FCA8D91100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Deletions</c:v>
                </c:pt>
              </c:strCache>
            </c:strRef>
          </c:tx>
          <c:spPr>
            <a:solidFill>
              <a:srgbClr val="065A8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Lean-specific</c:v>
                </c:pt>
                <c:pt idx="1">
                  <c:v>Siscowet-specific</c:v>
                </c:pt>
                <c:pt idx="2">
                  <c:v>Shared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225337</c:v>
                </c:pt>
                <c:pt idx="1">
                  <c:v>245906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D5A-3946-86C1-FCA8D91100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Shared variants</c:v>
                </c:pt>
              </c:strCache>
            </c:strRef>
          </c:tx>
          <c:spPr>
            <a:solidFill>
              <a:srgbClr val="1C7293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Lean-specific</c:v>
                </c:pt>
                <c:pt idx="1">
                  <c:v>Siscowet-specific</c:v>
                </c:pt>
                <c:pt idx="2">
                  <c:v>Shared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878372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D5A-3946-86C1-FCA8D9110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DMRs in siscowet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Hypermethylated</c:v>
                </c:pt>
                <c:pt idx="1">
                  <c:v>Hypomethylated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282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E5F-B743-8D77-F88CE7B4A3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CADCFC"/>
                </a:solidFill>
                <a:latin typeface="Calibri"/>
              </a:rPr>
              <a:t>SALVELINUS NAMAYCUSH  ·  ROBERTS LAB, UW SAFS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From Variation to</a:t>
            </a:r>
          </a:p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CADCFC"/>
                </a:solidFill>
                <a:latin typeface="Georgia"/>
              </a:rPr>
              <a:t>Candidate Genes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Methylation, structural variation, and functional annotation of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lean vs. siscowet</a:t>
            </a:r>
            <a:r>
              <a:rPr sz="2000" b="0" i="0">
                <a:solidFill>
                  <a:srgbClr val="CADCFC"/>
                </a:solidFill>
                <a:latin typeface="Calibri"/>
              </a:rPr>
              <a:t> lake trout ecotypes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Rick Goetz · Sam White · Cristian Gallardo-Escarate · Steven Roberts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PacBio HiFi comparative epigenomics  ·  research talk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THE BIOLOGICAL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2B35"/>
                </a:solidFill>
                <a:latin typeface="Georgia"/>
              </a:rPr>
              <a:t>What makes a lean a lean and a siscowet a siscowet?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4937760" cy="32461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37760" cy="7772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493776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214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1C7293"/>
                </a:solidFill>
                <a:latin typeface="Calibri"/>
              </a:rPr>
              <a:t>Shallow · nearshore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4297680" cy="1737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Streamlined, low lipid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Forages shallow water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Reference-like body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65960"/>
            <a:ext cx="4937760" cy="32461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965960"/>
            <a:ext cx="4937760" cy="77724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2331720"/>
            <a:ext cx="49377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1214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Siscowet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880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065A82"/>
                </a:solidFill>
                <a:latin typeface="Calibri"/>
              </a:rPr>
              <a:t>Deep · offshore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383280"/>
            <a:ext cx="4297680" cy="1737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High lipid / fat stores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Adapted to depth &amp; pressure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Robust, distinct morphology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2B35"/>
                </a:solidFill>
                <a:latin typeface="Calibri"/>
              </a:rPr>
              <a:t>Same species, same reference genome. </a:t>
            </a:r>
            <a:r>
              <a:rPr sz="1700" b="1" i="0">
                <a:solidFill>
                  <a:srgbClr val="E9964E"/>
                </a:solidFill>
                <a:latin typeface="Calibri"/>
              </a:rPr>
              <a:t>Which genes carry the difference — and what phenotypes might they shape?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CADCFC"/>
                </a:solidFill>
                <a:latin typeface="Calibri"/>
              </a:rPr>
              <a:t>THE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Three layers, one shortlist of genes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83280" cy="35661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21031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spc="130">
                <a:solidFill>
                  <a:srgbClr val="E9964E"/>
                </a:solidFill>
                <a:latin typeface="Calibri"/>
              </a:rPr>
              <a:t>LAYER 1 · PAV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48716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Georgia"/>
              </a:rPr>
              <a:t>The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24612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Presence-absence variation — DNA segments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gained or lost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.</a:t>
            </a:r>
          </a:p>
          <a:p>
            <a:pPr algn="l"/>
            <a:endParaRPr sz="145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Changes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what genes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83280" cy="35661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21031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spc="130">
                <a:solidFill>
                  <a:srgbClr val="9BE8DC"/>
                </a:solidFill>
                <a:latin typeface="Calibri"/>
              </a:rPr>
              <a:t>LAYER 2 · 5mC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48716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Georgia"/>
              </a:rPr>
              <a:t>The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324612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DNA methylation — reversible marks that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switch genes up or down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.</a:t>
            </a:r>
          </a:p>
          <a:p>
            <a:pPr algn="l"/>
            <a:endParaRPr sz="145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Changes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how genes are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828800"/>
            <a:ext cx="3383280" cy="35661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21031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spc="130">
                <a:solidFill>
                  <a:srgbClr val="F1C48C"/>
                </a:solidFill>
                <a:latin typeface="Calibri"/>
              </a:rPr>
              <a:t>LAYER 3 ·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48716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Georgia"/>
              </a:rPr>
              <a:t>The interpreter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24612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RefSeq function turns coordinates into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gene names, products, GO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.</a:t>
            </a:r>
          </a:p>
          <a:p>
            <a:pPr algn="l"/>
            <a:endParaRPr sz="1450" b="0" i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Tells us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which genes &amp; why.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 i="1">
                <a:solidFill>
                  <a:srgbClr val="CADCFC"/>
                </a:solidFill>
                <a:latin typeface="Calibri"/>
              </a:rPr>
              <a:t>Same PacBio HiFi reads resolve PAV and methylation at once; annotation joins them to biology.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STUDY DESIGN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2B35"/>
                </a:solidFill>
                <a:latin typeface="Georgia"/>
              </a:rPr>
              <a:t>Eight fish, one platform, three readouts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514600" cy="15544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9728" cy="1554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221284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065A82"/>
                </a:solidFill>
                <a:latin typeface="Georg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0358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707B"/>
                </a:solidFill>
                <a:latin typeface="Calibri"/>
              </a:rPr>
              <a:t>PacBio HiFi individuals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011680"/>
            <a:ext cx="2514600" cy="15544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2011680"/>
            <a:ext cx="109728" cy="1554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04488" y="221284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C7293"/>
                </a:solidFill>
                <a:latin typeface="Georgia"/>
              </a:rPr>
              <a:t>4 + 4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30358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707B"/>
                </a:solidFill>
                <a:latin typeface="Calibri"/>
              </a:rPr>
              <a:t>lean + siscowet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14600" cy="15544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109728" cy="1554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221284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2A9D8F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30358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707B"/>
                </a:solidFill>
                <a:latin typeface="Calibri"/>
              </a:rPr>
              <a:t>reference: SaNama_1.0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011680"/>
            <a:ext cx="2514600" cy="15544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2011680"/>
            <a:ext cx="109728" cy="155448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82328" y="221284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C97B2E"/>
                </a:solidFill>
                <a:latin typeface="Georgia"/>
              </a:rPr>
              <a:t>46,359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30358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707B"/>
                </a:solidFill>
                <a:latin typeface="Calibri"/>
              </a:rPr>
              <a:t>annotated genes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86200"/>
            <a:ext cx="10515600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1148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B35"/>
                </a:solidFill>
                <a:latin typeface="Georgia"/>
              </a:rPr>
              <a:t>Why HiFi matters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72000"/>
            <a:ext cx="10058400" cy="9144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7293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Long, accurate reads call </a:t>
            </a:r>
            <a:r>
              <a:rPr sz="1500" b="1" i="0">
                <a:solidFill>
                  <a:srgbClr val="1A2B35"/>
                </a:solidFill>
                <a:latin typeface="Calibri"/>
              </a:rPr>
              <a:t>structural variants (PAV)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 and </a:t>
            </a:r>
            <a:r>
              <a:rPr sz="1500" b="1" i="0">
                <a:solidFill>
                  <a:srgbClr val="1A2B35"/>
                </a:solidFill>
                <a:latin typeface="Calibri"/>
              </a:rPr>
              <a:t>5mC methylation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 from the very same molecules — no separate assays, no batch confound.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707B"/>
                </a:solidFill>
                <a:latin typeface="Calibri"/>
              </a:rPr>
              <a:t>Samples — Lean: bc2041/2068/2069/2070   ·   Siscowet: bc2071/2072/2073/2096   ·   Supporting layer: liver RNA-seq (202 DETs, separate parasite study)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LAYER 1 · PRESENCE-ABSENCE VARIATION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6858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A2B35"/>
                </a:solidFill>
                <a:latin typeface="Georgia"/>
              </a:rPr>
              <a:t>Whole segments of DNA present in one ecotype, absent in the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6583680" cy="2743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C7293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A2B35"/>
                </a:solidFill>
                <a:latin typeface="Calibri"/>
              </a:rPr>
              <a:t>Detected two ways from HiFi alignments: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7293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065A82"/>
                </a:solidFill>
                <a:latin typeface="Calibri"/>
              </a:rPr>
              <a:t>Deletions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 — coverage drops to zero over a region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7293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E9964E"/>
                </a:solidFill>
                <a:latin typeface="Calibri"/>
              </a:rPr>
              <a:t>Insertions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 — novel sequence flagged in read CIGAR strings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7293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Classified as lean-specific, siscowet-specific, or shared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194560"/>
            <a:ext cx="3383280" cy="32918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23317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19" y="2743200"/>
            <a:ext cx="621792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88551" y="2743200"/>
            <a:ext cx="621792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701784" y="2743200"/>
            <a:ext cx="621792" cy="41148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415015" y="2743200"/>
            <a:ext cx="621792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37033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Siscowet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4069080"/>
            <a:ext cx="621792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88551" y="4069080"/>
            <a:ext cx="621792" cy="411480"/>
          </a:xfrm>
          <a:prstGeom prst="rect">
            <a:avLst/>
          </a:prstGeom>
          <a:solidFill>
            <a:srgbClr val="D7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01784" y="4069080"/>
            <a:ext cx="621792" cy="41148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15015" y="4069080"/>
            <a:ext cx="621792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88551" y="45262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5B707B"/>
                </a:solidFill>
                <a:latin typeface="Calibri"/>
              </a:rPr>
              <a:t>deletion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0292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707B"/>
                </a:solidFill>
                <a:latin typeface="Calibri"/>
              </a:rPr>
              <a:t>same locus → different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LAYER 1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2B35"/>
                </a:solidFill>
                <a:latin typeface="Georgia"/>
              </a:rPr>
              <a:t>Siscowet carries more ecotype-specific structure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874519"/>
          <a:ext cx="67665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5279" y="19202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E9964E"/>
                </a:solidFill>
                <a:latin typeface="Georgia"/>
              </a:rPr>
              <a:t>996,228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24505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707B"/>
                </a:solidFill>
                <a:latin typeface="Calibri"/>
              </a:rPr>
              <a:t>lean-specific 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9718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Georgia"/>
              </a:rPr>
              <a:t>1,332,705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35021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707B"/>
                </a:solidFill>
                <a:latin typeface="Calibri"/>
              </a:rPr>
              <a:t>siscowet-specific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02336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C7293"/>
                </a:solidFill>
                <a:latin typeface="Georgia"/>
              </a:rPr>
              <a:t>878,372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455371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707B"/>
                </a:solidFill>
                <a:latin typeface="Calibri"/>
              </a:rPr>
              <a:t>shared between ecotypes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93776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1A2B35"/>
                </a:solidFill>
                <a:latin typeface="Calibri"/>
              </a:rPr>
              <a:t>≈ 34% more ecotype-specific variation in siscowet — but read with reference bias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707B"/>
                </a:solidFill>
                <a:latin typeface="Calibri"/>
              </a:rPr>
              <a:t>Interpretation focuses on </a:t>
            </a:r>
            <a:r>
              <a:rPr sz="1300" b="1" i="0">
                <a:solidFill>
                  <a:srgbClr val="065A82"/>
                </a:solidFill>
                <a:latin typeface="Calibri"/>
              </a:rPr>
              <a:t>3,465 stringent siscowet-specific deletions</a:t>
            </a:r>
            <a:r>
              <a:rPr sz="1300" b="0" i="0">
                <a:solidFill>
                  <a:srgbClr val="5B707B"/>
                </a:solidFill>
                <a:latin typeface="Calibri"/>
              </a:rPr>
              <a:t> (&gt;100 bp, all-4-vs-none) — the high-confidence set carried into annotation.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LAYER 1 · FROM VARIANTS TO PHENOTYPE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2B35"/>
                </a:solidFill>
                <a:latin typeface="Georgia"/>
              </a:rPr>
              <a:t>How presence-absence becomes ecotype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375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3317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395728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2B35"/>
                </a:solidFill>
                <a:latin typeface="Georgia"/>
              </a:rPr>
              <a:t>Add / remove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9476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1A2B35"/>
                </a:solidFill>
                <a:latin typeface="Calibri"/>
              </a:rPr>
              <a:t>A PAV overlapping a coding region adds or deletes a gene outright — a present-vs-absent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3375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54879" y="2331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2395728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154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2B35"/>
                </a:solidFill>
                <a:latin typeface="Georgia"/>
              </a:rPr>
              <a:t>Shift gene dosage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79476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1A2B35"/>
                </a:solidFill>
                <a:latin typeface="Calibri"/>
              </a:rPr>
              <a:t>Copy-number change tunes expression up or down without touching the coding sequence.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3375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66760" y="2331720"/>
            <a:ext cx="640080" cy="640080"/>
          </a:xfrm>
          <a:prstGeom prst="ellipse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395728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154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2B35"/>
                </a:solidFill>
                <a:latin typeface="Georgia"/>
              </a:rPr>
              <a:t>Rewire regulation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9476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1A2B35"/>
                </a:solidFill>
                <a:latin typeface="Calibri"/>
              </a:rPr>
              <a:t>Indels in promoters / enhancers reposition regulatory elements, altering control.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2B35"/>
                </a:solidFill>
                <a:latin typeface="Calibri"/>
              </a:rPr>
              <a:t>Candidate targets for ecotype divergence: </a:t>
            </a:r>
            <a:r>
              <a:rPr sz="1600" b="1" i="0">
                <a:solidFill>
                  <a:srgbClr val="065A82"/>
                </a:solidFill>
                <a:latin typeface="Calibri"/>
              </a:rPr>
              <a:t>lipid metabolism, depth &amp; pressure tolerance, sensory adaptation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 — annotation (Layer 3) tells us which genes are actually hit.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2A9D8F"/>
                </a:solidFill>
                <a:latin typeface="Calibri"/>
              </a:rPr>
              <a:t>LAYER 2 · DNA METHYLATION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1A2B35"/>
                </a:solidFill>
                <a:latin typeface="Georgia"/>
              </a:rPr>
              <a:t>Same sequence, different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6675120" cy="29260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2A9D8F"/>
                </a:solidFill>
                <a:latin typeface="Calibri"/>
              </a:rPr>
              <a:t>5-methylcytosine (5mC) at CpG sites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 — read directly off HiFi data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Methylation typically </a:t>
            </a:r>
            <a:r>
              <a:rPr sz="1600" b="1" i="0">
                <a:solidFill>
                  <a:srgbClr val="1A2B35"/>
                </a:solidFill>
                <a:latin typeface="Calibri"/>
              </a:rPr>
              <a:t>silences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 genes and represses transposable elements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A2B35"/>
                </a:solidFill>
                <a:latin typeface="Calibri"/>
              </a:rPr>
              <a:t>Reversible &amp; potentially heritable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 — a route to plastic phenotype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B35"/>
                </a:solidFill>
                <a:latin typeface="Calibri"/>
              </a:rPr>
              <a:t>We test each CpG for ecotype differences, then group into regions (DMRs)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286000"/>
            <a:ext cx="3291840" cy="30175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0" y="4023360"/>
            <a:ext cx="2560320" cy="457200"/>
          </a:xfrm>
          <a:prstGeom prst="rect">
            <a:avLst/>
          </a:prstGeom>
          <a:solidFill>
            <a:srgbClr val="C9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4069080"/>
            <a:ext cx="146304" cy="365760"/>
          </a:xfrm>
          <a:prstGeom prst="rect">
            <a:avLst/>
          </a:prstGeom>
          <a:solidFill>
            <a:srgbClr val="6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52560" y="4069080"/>
            <a:ext cx="146304" cy="365760"/>
          </a:xfrm>
          <a:prstGeom prst="rect">
            <a:avLst/>
          </a:prstGeom>
          <a:solidFill>
            <a:srgbClr val="6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42832" y="36118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42832" y="365760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4069080"/>
            <a:ext cx="146304" cy="365760"/>
          </a:xfrm>
          <a:prstGeom prst="rect">
            <a:avLst/>
          </a:prstGeom>
          <a:solidFill>
            <a:srgbClr val="6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0" y="4069080"/>
            <a:ext cx="146304" cy="365760"/>
          </a:xfrm>
          <a:prstGeom prst="rect">
            <a:avLst/>
          </a:prstGeom>
          <a:solidFill>
            <a:srgbClr val="6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948672" y="36118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48672" y="365760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61320" y="4069080"/>
            <a:ext cx="146304" cy="365760"/>
          </a:xfrm>
          <a:prstGeom prst="rect">
            <a:avLst/>
          </a:prstGeom>
          <a:solidFill>
            <a:srgbClr val="6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7091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5B707B"/>
                </a:solidFill>
                <a:latin typeface="Calibri"/>
              </a:rPr>
              <a:t>methyl marks tune the same DNA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2A9D8F"/>
                </a:solidFill>
                <a:latin typeface="Calibri"/>
              </a:rPr>
              <a:t>LAYER 2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1A2B35"/>
                </a:solidFill>
                <a:latin typeface="Georgia"/>
              </a:rPr>
              <a:t>From half a million sites to 302 regions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3108960" cy="14173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3108960" cy="12801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1C7293"/>
                </a:solidFill>
                <a:latin typeface="Georgia"/>
              </a:rPr>
              <a:t>540,040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358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B707B"/>
                </a:solidFill>
                <a:latin typeface="Calibri"/>
              </a:rPr>
              <a:t>CpG sites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5B707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57400"/>
            <a:ext cx="3108960" cy="14173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2057400"/>
            <a:ext cx="3108960" cy="12801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Georgia"/>
              </a:rPr>
              <a:t>4,440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358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B707B"/>
                </a:solidFill>
                <a:latin typeface="Calibri"/>
              </a:rPr>
              <a:t>significant DMCs (p &lt; 0.05)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5B707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108960" cy="14173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057400"/>
            <a:ext cx="3108960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Georgia"/>
              </a:rPr>
              <a:t>302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358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B707B"/>
                </a:solidFill>
                <a:latin typeface="Calibri"/>
              </a:rPr>
              <a:t>differentially methylated regions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2960" y="3840480"/>
          <a:ext cx="5760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0" y="3931920"/>
            <a:ext cx="44805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B35"/>
                </a:solidFill>
                <a:latin typeface="Georgia"/>
              </a:rPr>
              <a:t>The asymmetry is the story.</a:t>
            </a:r>
          </a:p>
          <a:p>
            <a:pPr algn="l"/>
            <a:endParaRPr sz="1800" b="1" i="0">
              <a:solidFill>
                <a:srgbClr val="1A2B35"/>
              </a:solidFill>
              <a:latin typeface="Georgia"/>
            </a:endParaRPr>
          </a:p>
          <a:p>
            <a:pPr algn="l"/>
            <a:r>
              <a:rPr sz="1500" b="0" i="0">
                <a:solidFill>
                  <a:srgbClr val="1A2B35"/>
                </a:solidFill>
                <a:latin typeface="Calibri"/>
              </a:rPr>
              <a:t>282 of 302 DMRs are </a:t>
            </a:r>
            <a:r>
              <a:rPr sz="1500" b="1" i="0">
                <a:solidFill>
                  <a:srgbClr val="2A9D8F"/>
                </a:solidFill>
                <a:latin typeface="Calibri"/>
              </a:rPr>
              <a:t>hypomethylated</a:t>
            </a:r>
            <a:r>
              <a:rPr sz="1500" b="0" i="0">
                <a:solidFill>
                  <a:srgbClr val="1A2B35"/>
                </a:solidFill>
                <a:latin typeface="Calibri"/>
              </a:rPr>
              <a:t> in siscowet — a genome-wide tilt toward de-repression.</a:t>
            </a:r>
          </a:p>
          <a:p>
            <a:pPr algn="l"/>
            <a:endParaRPr sz="1500" b="0" i="0">
              <a:solidFill>
                <a:srgbClr val="1A2B35"/>
              </a:solidFill>
              <a:latin typeface="Calibri"/>
            </a:endParaRPr>
          </a:p>
          <a:p>
            <a:pPr algn="l"/>
            <a:r>
              <a:rPr sz="1300" b="0" i="1">
                <a:solidFill>
                  <a:srgbClr val="5B707B"/>
                </a:solidFill>
                <a:latin typeface="Calibri"/>
              </a:rPr>
              <a:t>But 0 single CpGs survive q &lt; 0.1 — we lead with the DMR level, not individual sites.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CADCFC"/>
                </a:solidFill>
                <a:latin typeface="Calibri"/>
              </a:rPr>
              <a:t>LAYER 2 · INTERPRETING THE TILT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Why a hypomethylated siscowet genome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3337560" cy="32004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Genes switch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Lower methylation near promoters can de-repress genes — potentially the lipid &amp; depth programs that define siscowet.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7400"/>
            <a:ext cx="3337560" cy="32004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79" y="23317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Mobile elements wake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24612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Genome-wide hypomethylation can re-activate transposable elements, a documented engine of rapid divergence.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57400"/>
            <a:ext cx="3337560" cy="32004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23317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heritable dial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24612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Methylation state can persist across generations — divergence without waiting for new mutations.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Two independent signals, same direction: siscowet shows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more structural variation and broad hypomethylation.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C97B2E"/>
                </a:solidFill>
                <a:latin typeface="Calibri"/>
              </a:rPr>
              <a:t>LAYER 3 · FUNCTIONAL ANNOTATION  (NEW)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1A2B35"/>
                </a:solidFill>
                <a:latin typeface="Georgia"/>
              </a:rPr>
              <a:t>Turning coordinates into candidate genes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337560" cy="14630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3337560" cy="118872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C97B2E"/>
                </a:solidFill>
                <a:latin typeface="Georgia"/>
              </a:rPr>
              <a:t>46,359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5B707B"/>
                </a:solidFill>
                <a:latin typeface="Calibri"/>
              </a:rPr>
              <a:t>genes annotated (RefSeq)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965960"/>
            <a:ext cx="3337560" cy="14630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16552" y="1965960"/>
            <a:ext cx="3337560" cy="1188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2194560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1C7293"/>
                </a:solidFill>
                <a:latin typeface="Georgia"/>
              </a:rPr>
              <a:t>46,231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9260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5B707B"/>
                </a:solidFill>
                <a:latin typeface="Calibri"/>
              </a:rPr>
              <a:t>with a product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3337560" cy="14630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10144" y="1965960"/>
            <a:ext cx="3337560" cy="11887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0144" y="2194560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2A9D8F"/>
                </a:solidFill>
                <a:latin typeface="Georgia"/>
              </a:rPr>
              <a:t>34,367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29260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5B707B"/>
                </a:solidFill>
                <a:latin typeface="Calibri"/>
              </a:rPr>
              <a:t>with ≥1 Gene Ontology term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10515600" cy="1874519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B35"/>
                </a:solidFill>
                <a:latin typeface="Georgia"/>
              </a:rPr>
              <a:t>The move that makes everything interpretable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434840"/>
            <a:ext cx="9966960" cy="10972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7B2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C97B2E"/>
                </a:solidFill>
                <a:latin typeface="Calibri"/>
              </a:rPr>
              <a:t>Strand-aware assignment</a:t>
            </a:r>
            <a:r>
              <a:rPr sz="1450" b="0" i="0">
                <a:solidFill>
                  <a:srgbClr val="1A2B35"/>
                </a:solidFill>
                <a:latin typeface="Calibri"/>
              </a:rPr>
              <a:t> of every DMR / DMC / stringent-PAV to genes (promoter ±2 kb, flank ±5 kb)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7B2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C97B2E"/>
                </a:solidFill>
                <a:latin typeface="Calibri"/>
              </a:rPr>
              <a:t>2,036 candidate genes</a:t>
            </a:r>
            <a:r>
              <a:rPr sz="1450" b="0" i="0">
                <a:solidFill>
                  <a:srgbClr val="1A2B35"/>
                </a:solidFill>
                <a:latin typeface="Calibri"/>
              </a:rPr>
              <a:t> sit within 5 kb of a differential feature — ranked by convergence, placement &amp; expression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7B2E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A2B35"/>
                </a:solidFill>
                <a:latin typeface="Calibri"/>
              </a:rPr>
              <a:t>149/302 DMRs and 1,543/3,465 deletions land near a gene; </a:t>
            </a:r>
            <a:r>
              <a:rPr sz="1450" b="1" i="0">
                <a:solidFill>
                  <a:srgbClr val="1A2B35"/>
                </a:solidFill>
                <a:latin typeface="Calibri"/>
              </a:rPr>
              <a:t>54 deletions overlap an exon</a:t>
            </a:r>
            <a:r>
              <a:rPr sz="1450" b="0" i="0">
                <a:solidFill>
                  <a:srgbClr val="1A2B35"/>
                </a:solidFill>
                <a:latin typeface="Calibri"/>
              </a:rPr>
              <a:t> (candidate copy/LOF)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C97B2E"/>
                </a:solidFill>
                <a:latin typeface="Calibri"/>
              </a:rPr>
              <a:t>LAYER 3 · WHERE THE LAYERS CONVERGE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2B35"/>
                </a:solidFill>
                <a:latin typeface="Georgia"/>
              </a:rPr>
              <a:t>Four genes carry both a DMR and a siscowet deletion</a:t>
            </a:r>
          </a:p>
        </p:txBody>
      </p:sp>
      <p:pic>
        <p:nvPicPr>
          <p:cNvPr id="4" name="Picture 3" descr="18-top-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49377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5989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5B707B"/>
                </a:solidFill>
                <a:latin typeface="Calibri"/>
              </a:rPr>
              <a:t>Top protein-coding candidates by integrated rank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97B2E"/>
                </a:solidFill>
                <a:latin typeface="Calibri"/>
              </a:rPr>
              <a:t>4 CONVERGENT LOCI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486400" cy="56692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91440" cy="566928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67127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Calibri"/>
              </a:rPr>
              <a:t>znf883-like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707B"/>
                </a:solidFill>
                <a:latin typeface="Calibri"/>
              </a:rPr>
              <a:t>exon DMR + exonic deletion ·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5486400" cy="56692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91440" cy="5669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8072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Calibri"/>
              </a:rPr>
              <a:t>XlCGF57.1-like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707B"/>
                </a:solidFill>
                <a:latin typeface="Calibri"/>
              </a:rPr>
              <a:t>intron hypo-DMR + nearby deletion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486400" cy="56692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91440" cy="5669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44728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Calibri"/>
              </a:rPr>
              <a:t>septin-9-like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47472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707B"/>
                </a:solidFill>
                <a:latin typeface="Calibri"/>
              </a:rPr>
              <a:t>intron hyper-DMR + nearby deletion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5486400" cy="56692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023360"/>
            <a:ext cx="91440" cy="566928"/>
          </a:xfrm>
          <a:prstGeom prst="rect">
            <a:avLst/>
          </a:prstGeom>
          <a:solidFill>
            <a:srgbClr val="5B7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08736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Calibri"/>
              </a:rPr>
              <a:t>LOC120039781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11480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707B"/>
                </a:solidFill>
                <a:latin typeface="Calibri"/>
              </a:rPr>
              <a:t>uncharacterized · intron hypo-DMR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9964E"/>
                </a:solidFill>
                <a:latin typeface="Calibri"/>
              </a:rPr>
              <a:t>EXONIC DELETIONS IN LIPID GENES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5486400" cy="1188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E9964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A2B35"/>
                </a:solidFill>
                <a:latin typeface="Calibri"/>
              </a:rPr>
              <a:t>angptl5</a:t>
            </a:r>
            <a:r>
              <a:rPr sz="1350" b="0" i="0">
                <a:solidFill>
                  <a:srgbClr val="5B707B"/>
                </a:solidFill>
                <a:latin typeface="Calibri"/>
              </a:rPr>
              <a:t>  ·  </a:t>
            </a:r>
            <a:r>
              <a:rPr sz="1350" b="1" i="0">
                <a:solidFill>
                  <a:srgbClr val="1A2B35"/>
                </a:solidFill>
                <a:latin typeface="Calibri"/>
              </a:rPr>
              <a:t>mogat2</a:t>
            </a:r>
            <a:r>
              <a:rPr sz="1350" b="0" i="0">
                <a:solidFill>
                  <a:srgbClr val="5B707B"/>
                </a:solidFill>
                <a:latin typeface="Calibri"/>
              </a:rPr>
              <a:t>  ·  </a:t>
            </a:r>
            <a:r>
              <a:rPr sz="1350" b="1" i="0">
                <a:solidFill>
                  <a:srgbClr val="1A2B35"/>
                </a:solidFill>
                <a:latin typeface="Calibri"/>
              </a:rPr>
              <a:t>epoxide hydrolase 1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E9964E"/>
                </a:solidFill>
                <a:latin typeface="Calibri"/>
              </a:rPr>
              <a:t>—  </a:t>
            </a:r>
            <a:r>
              <a:rPr sz="1250" b="0" i="1">
                <a:solidFill>
                  <a:srgbClr val="5B707B"/>
                </a:solidFill>
                <a:latin typeface="Calibri"/>
              </a:rPr>
              <a:t>Lipid handling — consistent with the defining high-lipid siscowet phenotype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LAYER 3 · FUNCTION &amp; PHENOTYPE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1A2B35"/>
                </a:solidFill>
                <a:latin typeface="Georgia"/>
              </a:rPr>
              <a:t>What the candidate set points toward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074920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2B35"/>
                </a:solidFill>
                <a:latin typeface="Georgia"/>
              </a:rPr>
              <a:t>GO enrichment — deletion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420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5B707B"/>
                </a:solidFill>
                <a:latin typeface="Calibri"/>
              </a:rPr>
              <a:t>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54203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5B707B"/>
                </a:solidFill>
                <a:latin typeface="Calibri"/>
              </a:rPr>
              <a:t>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542032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5B707B"/>
                </a:solidFill>
                <a:latin typeface="Calibri"/>
              </a:rPr>
              <a:t>FDR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B35"/>
                </a:solidFill>
                <a:latin typeface="Calibri"/>
              </a:rPr>
              <a:t>Ca²⁺ transmembrane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926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1A2B35"/>
                </a:solidFill>
                <a:latin typeface="Calibri"/>
              </a:rPr>
              <a:t>3.7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2608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1A2B35"/>
                </a:solidFill>
                <a:latin typeface="Calibri"/>
              </a:rPr>
              <a:t>5.6e-4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64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B35"/>
                </a:solidFill>
                <a:latin typeface="Calibri"/>
              </a:rPr>
              <a:t>Neuron projection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3649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1A2B35"/>
                </a:solidFill>
                <a:latin typeface="Calibri"/>
              </a:rPr>
              <a:t>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36499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1A2B35"/>
                </a:solidFill>
                <a:latin typeface="Calibri"/>
              </a:rPr>
              <a:t>2.6e-3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039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707B"/>
                </a:solidFill>
                <a:latin typeface="Calibri"/>
              </a:rPr>
              <a:t>Calcium channel complex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80390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5B707B"/>
                </a:solidFill>
                <a:latin typeface="Calibri"/>
              </a:rPr>
              <a:t>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803904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5B707B"/>
                </a:solidFill>
                <a:latin typeface="Calibri"/>
              </a:rPr>
              <a:t>3.0e-3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4281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B35"/>
                </a:solidFill>
                <a:latin typeface="Calibri"/>
              </a:rPr>
              <a:t>Calcium ion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24281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1A2B35"/>
                </a:solidFill>
                <a:latin typeface="Calibri"/>
              </a:rPr>
              <a:t>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242816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1A2B35"/>
                </a:solidFill>
                <a:latin typeface="Calibri"/>
              </a:rPr>
              <a:t>3.0e-3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817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707B"/>
                </a:solidFill>
                <a:latin typeface="Calibri"/>
              </a:rPr>
              <a:t>Lipid / phospholipid binding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68172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5B707B"/>
                </a:solidFill>
                <a:latin typeface="Calibri"/>
              </a:rPr>
              <a:t>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6817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 i="0">
                <a:solidFill>
                  <a:srgbClr val="5B707B"/>
                </a:solidFill>
                <a:latin typeface="Calibri"/>
              </a:rPr>
              <a:t>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B707B"/>
                </a:solidFill>
                <a:latin typeface="Calibri"/>
              </a:rPr>
              <a:t>Calcium transport = most defensible; carries a gene-length caveat. DMR set is a tandem-cluster artifact.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9202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C97B2E"/>
                </a:solidFill>
                <a:latin typeface="Calibri"/>
              </a:rPr>
              <a:t>HYPOTHESIZED PHENOTYPE AXES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286000"/>
            <a:ext cx="51663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2286000"/>
            <a:ext cx="91440" cy="841248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24048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2B35"/>
                </a:solidFill>
                <a:latin typeface="Calibri"/>
              </a:rPr>
              <a:t>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23774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Georgia"/>
              </a:rPr>
              <a:t>Lipid &amp; energy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271576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707B"/>
                </a:solidFill>
                <a:latin typeface="Calibri"/>
              </a:rPr>
              <a:t>angptl5, mogat2, ephx1 — high-lipid siscowet / buoyancy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200400"/>
            <a:ext cx="51663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3200400"/>
            <a:ext cx="91440" cy="8412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3192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2B35"/>
                </a:solidFill>
                <a:latin typeface="Calibri"/>
              </a:rPr>
              <a:t>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32918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Georgia"/>
              </a:rPr>
              <a:t>Body shape, growth &amp; muscle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63016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707B"/>
                </a:solidFill>
                <a:latin typeface="Calibri"/>
              </a:rPr>
              <a:t>rbm24b + growth GO — elongate-lean vs. robust-siscowet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114800"/>
            <a:ext cx="51663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4114800"/>
            <a:ext cx="91440" cy="8412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42336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2B35"/>
                </a:solidFill>
                <a:latin typeface="Calibri"/>
              </a:rPr>
              <a:t>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42062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Georgia"/>
              </a:rPr>
              <a:t>Calcium / sensory-neural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454456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707B"/>
                </a:solidFill>
                <a:latin typeface="Calibri"/>
              </a:rPr>
              <a:t>Ca²⁺ &amp; neuron-projection GO — deep, dark, high-pressure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029200"/>
            <a:ext cx="516636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5029200"/>
            <a:ext cx="91440" cy="8412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28232" y="5148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A2B35"/>
                </a:solidFill>
                <a:latin typeface="Calibri"/>
              </a:rPr>
              <a:t>🛡️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51206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2B35"/>
                </a:solidFill>
                <a:latin typeface="Georgia"/>
              </a:rPr>
              <a:t>Immune &amp; adhesion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3448" y="545896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707B"/>
                </a:solidFill>
                <a:latin typeface="Calibri"/>
              </a:rPr>
              <a:t>a2m, CEACAM, DMBT1 — some real, some reference-divergent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CADCFC"/>
                </a:solidFill>
                <a:latin typeface="Calibri"/>
              </a:rPr>
              <a:t>READ THIS CAREFULLY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Hypothesis-generating, not causal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5166360" cy="141732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91440" cy="141732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213055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Lean-background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569464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SaNama_1.0 is a doubled-haploid lean fish. Siscowet diverges more, inflating its apparent deletions — counts are not magnitude-comparable.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65960"/>
            <a:ext cx="5166360" cy="141732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1965960"/>
            <a:ext cx="91440" cy="141732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13055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No single CpG survives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9464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0 DMCs at q &lt; 0.1. Interpretation leads with DMR-level and stringent-PAV sets; single-CpG hits are suggestive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80"/>
            <a:ext cx="5166360" cy="141732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91440" cy="141732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77647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Expression support is weak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215384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Liver RNA-seq comes from a separate parasite study with different fish — orthogonal support, never confirmation.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611880"/>
            <a:ext cx="5166360" cy="141732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9632" y="3611880"/>
            <a:ext cx="91440" cy="141732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77647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Georgia"/>
              </a:rPr>
              <a:t>Enrichment confounders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15384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PAV GO carries a gene-length bias (long Ca²⁺ channels); the DMR GO signal is a single histone/znf883 tandem cluster.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The deliverable is a ranked, annotated shortlist of candidates —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associations on one reference, awaiting functional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E9964E"/>
                </a:solidFill>
                <a:latin typeface="Calibri"/>
              </a:rP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A2B35"/>
                </a:solidFill>
                <a:latin typeface="Georgia"/>
              </a:rPr>
              <a:t>Three things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515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28016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3000" y="2258568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6712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2B35"/>
                </a:solidFill>
                <a:latin typeface="Georgia"/>
              </a:rPr>
              <a:t>Divergence is written at two levels, read at a third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679191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B707B"/>
                </a:solidFill>
                <a:latin typeface="Calibri"/>
              </a:rPr>
              <a:t>Structure (what genes exist) + methylation (how they're used), made interpretable by annotation.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56432"/>
            <a:ext cx="10515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456432"/>
            <a:ext cx="128016" cy="1325880"/>
          </a:xfrm>
          <a:prstGeom prst="rect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" y="3749039"/>
            <a:ext cx="731520" cy="731520"/>
          </a:xfrm>
          <a:prstGeom prst="ellipse">
            <a:avLst/>
          </a:prstGeom>
          <a:solidFill>
            <a:srgbClr val="C9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822191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6576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2B35"/>
                </a:solidFill>
                <a:latin typeface="Georgia"/>
              </a:rPr>
              <a:t>Annotation produced a ranked shortlist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169663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B707B"/>
                </a:solidFill>
                <a:latin typeface="Calibri"/>
              </a:rPr>
              <a:t>2,036 candidates, 4 convergent loci led by znf883-like, lipid-gene deletions, and calcium-transport 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46904"/>
            <a:ext cx="10515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946904"/>
            <a:ext cx="128016" cy="1325880"/>
          </a:xfrm>
          <a:prstGeom prst="rect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43000" y="5239512"/>
            <a:ext cx="731520" cy="731520"/>
          </a:xfrm>
          <a:prstGeom prst="ellipse">
            <a:avLst/>
          </a:prstGeom>
          <a:solidFill>
            <a:srgbClr val="E9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312664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148072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2B35"/>
                </a:solidFill>
                <a:latin typeface="Georgia"/>
              </a:rPr>
              <a:t>Read it as hypotheses, not mechanisms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660136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B707B"/>
                </a:solidFill>
                <a:latin typeface="Calibri"/>
              </a:rPr>
              <a:t>Lean-reference bias, no FDR-significant CpG, and weak expression support keep every link associative.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70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From variation to candidate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974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CADCFC"/>
                </a:solidFill>
                <a:latin typeface="Calibri"/>
              </a:rPr>
              <a:t>Methylation and structural variation each track the lean–siscowet split; 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functional annotation turns where they converge into the genes that may make an ecotype.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Explore the data — interactive genome browsers (IGV.js + JBrowse 2):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sr320.github.io/project-lake-trout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5105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Goetz · White · Gallardo-Escarate · Roberts  ·  Roberts Lab, UW SAFS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1337</Words>
  <Application>Microsoft Macintosh PowerPoint</Application>
  <PresentationFormat>Widescreen</PresentationFormat>
  <Paragraphs>219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Steven Roberts</cp:lastModifiedBy>
  <cp:revision>2</cp:revision>
  <dcterms:created xsi:type="dcterms:W3CDTF">2013-01-27T09:14:16Z</dcterms:created>
  <dcterms:modified xsi:type="dcterms:W3CDTF">2026-06-15T15:01:29Z</dcterms:modified>
  <cp:category/>
</cp:coreProperties>
</file>